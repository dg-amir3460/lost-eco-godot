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07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LOST ECO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645920" y="2606040"/>
            <a:ext cx="5852160" cy="502920"/>
          </a:xfrm>
          <a:prstGeom prst="roundRect">
            <a:avLst>
              <a:gd name="adj" fmla="val 21818"/>
            </a:avLst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Videojuego educativo sobre empatía y prevención del bullying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337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Laberinto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3337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2468880" y="3337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Pantano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3337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6B7280">
              <a:alpha val="70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3931920" y="3337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Cueva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94960" y="3337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5394960" y="3337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Río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333756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F5A623">
              <a:alpha val="7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6858000" y="33375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Claro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</a:rPr>
              <a:t>Godot 4.6  ·  Versión 1.0  ·  2026  ·  Universidad del Norte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228600"/>
            <a:ext cx="3474720" cy="411480"/>
          </a:xfrm>
          <a:prstGeom prst="roundRect">
            <a:avLst>
              <a:gd name="adj" fmla="val 488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834640" y="228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TABLA DE CONTENIDOS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548640" y="1033272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54864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33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Historia y Objetivo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039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Controles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0449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Las Zonas del Juego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5486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0507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Mecánicas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8686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2" name="Shape 20"/>
          <p:cNvSpPr/>
          <p:nvPr/>
        </p:nvSpPr>
        <p:spPr>
          <a:xfrm>
            <a:off x="4846320" y="1033272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1033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Personajes e Ítems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87452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6" name="Shape 24"/>
          <p:cNvSpPr/>
          <p:nvPr/>
        </p:nvSpPr>
        <p:spPr>
          <a:xfrm>
            <a:off x="4846320" y="2039112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Text 25"/>
          <p:cNvSpPr/>
          <p:nvPr/>
        </p:nvSpPr>
        <p:spPr>
          <a:xfrm>
            <a:off x="48463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2039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Interfaz (HUD)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0" name="Shape 28"/>
          <p:cNvSpPr/>
          <p:nvPr/>
        </p:nvSpPr>
        <p:spPr>
          <a:xfrm>
            <a:off x="4846320" y="304495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48463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13248" y="30449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Opciones y Accesibilidad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4" name="Shape 32"/>
          <p:cNvSpPr/>
          <p:nvPr/>
        </p:nvSpPr>
        <p:spPr>
          <a:xfrm>
            <a:off x="4846320" y="4050792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13248" y="40507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Preguntas Frecuentes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182880"/>
            <a:ext cx="3474720" cy="411480"/>
          </a:xfrm>
          <a:prstGeom prst="roundRect">
            <a:avLst>
              <a:gd name="adj" fmla="val 488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834640" y="182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HISTORIA Y OBJETIVO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572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560"/>
                </a:solidFill>
              </a:rPr>
              <a:t>★ LA HISTORIA 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</a:rPr>
              <a:t>Alex, un adolescente, acosó a su compañero Mateo con insultos y silencio cómplice. Tras huir al bosque, cae en un mundo simbólico y oscuro donde las sombras de sus palabras lo persiguen.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</a:rPr>
              <a:t>Debe recoger Ecos de Luz — fragmentos de memoria positiva — para avanzar y enfrentar las consecuencias de sus actos.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D3D3D"/>
                </a:solidFill>
              </a:rPr>
              <a:t>En la Cueva del Espejo se enfrenta a su propio miedo. Al cruzar el Río llega al Claro, donde Mateo lo espera.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777240"/>
            <a:ext cx="37490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 w="25400">
            <a:solidFill>
              <a:srgbClr val="E945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5166360" y="822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⚡ TU MISIÓN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17043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Usa los Ecos de Luz para iluminar tu camino y elige la empatía sobre la violencia.</a:t>
            </a:r>
          </a:p>
        </p:txBody>
      </p:sp>
      <p:sp>
        <p:nvSpPr>
          <p:cNvPr id="11" name="Shape 9"/>
          <p:cNvSpPr/>
          <p:nvPr/>
        </p:nvSpPr>
        <p:spPr>
          <a:xfrm>
            <a:off x="5074920" y="2286000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5166360" y="23500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6914"/>
                </a:solidFill>
              </a:rPr>
              <a:t>✦ MENSAJE CENTRAL 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1"/>
                </a:solidFill>
              </a:rPr>
              <a:t>No se trata de "ganar" combates. El verdadero avance ocurre al escuchar, reflexionar y — en el momento clave — soltar el arma y elegir la empatía.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88620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5548"/>
                </a:solidFill>
              </a:rPr>
              <a:t>✔  El 90 % de los jugadores reconoció el mensaje anti-bullying de forma espontánea, sin instrucción previa.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63240" y="18288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063240" y="182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941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Mover arriba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19019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Mover izquierda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28620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Mover abajo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3822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Mover derecha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2" name="Shape 20"/>
          <p:cNvSpPr/>
          <p:nvPr/>
        </p:nvSpPr>
        <p:spPr>
          <a:xfrm>
            <a:off x="4754880" y="91440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3" name="Text 21"/>
          <p:cNvSpPr/>
          <p:nvPr/>
        </p:nvSpPr>
        <p:spPr>
          <a:xfrm>
            <a:off x="4754880" y="91440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9418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Interactuar / Diálogo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73736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6" name="Shape 24"/>
          <p:cNvSpPr/>
          <p:nvPr/>
        </p:nvSpPr>
        <p:spPr>
          <a:xfrm>
            <a:off x="4754880" y="187452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Text 25"/>
          <p:cNvSpPr/>
          <p:nvPr/>
        </p:nvSpPr>
        <p:spPr>
          <a:xfrm>
            <a:off x="4754880" y="187452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19019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Pulso de Luz 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0" name="Shape 28"/>
          <p:cNvSpPr/>
          <p:nvPr/>
        </p:nvSpPr>
        <p:spPr>
          <a:xfrm>
            <a:off x="4754880" y="2834640"/>
            <a:ext cx="475488" cy="502920"/>
          </a:xfrm>
          <a:prstGeom prst="roundRect">
            <a:avLst>
              <a:gd name="adj" fmla="val 1538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4754880" y="28346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8620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Soltar el arma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65760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4" name="Shape 32"/>
          <p:cNvSpPr/>
          <p:nvPr/>
        </p:nvSpPr>
        <p:spPr>
          <a:xfrm>
            <a:off x="4754880" y="3794760"/>
            <a:ext cx="658368" cy="502920"/>
          </a:xfrm>
          <a:prstGeom prst="roundRect">
            <a:avLst>
              <a:gd name="adj" fmla="val 14545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5" name="Text 33"/>
          <p:cNvSpPr/>
          <p:nvPr/>
        </p:nvSpPr>
        <p:spPr>
          <a:xfrm>
            <a:off x="4754880" y="37947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ESC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3822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Pausar / Reanudar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41148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25400">
            <a:solidFill>
              <a:srgbClr val="1D4ED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8" name="Text 36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8A"/>
                </a:solidFill>
              </a:rPr>
              <a:t>💡  Las flechas del teclado también funcionan como alternativa a WASD para el movimiento.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182880"/>
            <a:ext cx="3474720" cy="411480"/>
          </a:xfrm>
          <a:prstGeom prst="roundRect">
            <a:avLst>
              <a:gd name="adj" fmla="val 4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834640" y="182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LAS ZONAS DEL JUEGO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192024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280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Laberinto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de Palabras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Oscuro · Niebla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Enemigos rojos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4560"/>
                </a:solidFill>
              </a:rPr>
              <a:t>✦ 4 Ecos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Introduce el Pulso de Luz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7772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Shape 12"/>
          <p:cNvSpPr/>
          <p:nvPr/>
        </p:nvSpPr>
        <p:spPr>
          <a:xfrm>
            <a:off x="2468880" y="777240"/>
            <a:ext cx="19202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246888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ZONA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1280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El Pantano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42032" y="192024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Verde · Barro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Enemigos verdes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6517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✦ 3 Ecos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4203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El fango reduce la velocidad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7772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2" name="Shape 20"/>
          <p:cNvSpPr/>
          <p:nvPr/>
        </p:nvSpPr>
        <p:spPr>
          <a:xfrm>
            <a:off x="4617720" y="777240"/>
            <a:ext cx="192024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3" name="Text 21"/>
          <p:cNvSpPr/>
          <p:nvPr/>
        </p:nvSpPr>
        <p:spPr>
          <a:xfrm>
            <a:off x="461772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ZONA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0872" y="1280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Cueva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del Espejo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90872" y="192024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Gris · Cristales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Enemigos amarillos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6517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6B7280">
              <a:alpha val="80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Text 25"/>
          <p:cNvSpPr/>
          <p:nvPr/>
        </p:nvSpPr>
        <p:spPr>
          <a:xfrm>
            <a:off x="489204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44444"/>
                </a:solidFill>
              </a:rPr>
              <a:t>✦ 3 Ecos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Suelta el arma [Q] para ganar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66560" y="77724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0" name="Shape 28"/>
          <p:cNvSpPr/>
          <p:nvPr/>
        </p:nvSpPr>
        <p:spPr>
          <a:xfrm>
            <a:off x="6766560" y="77724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676656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ZONA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39712" y="12801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El Río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9712" y="1920240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Agua azul · Trópico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Enemigos azules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26517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5" name="Text 33"/>
          <p:cNvSpPr/>
          <p:nvPr/>
        </p:nvSpPr>
        <p:spPr>
          <a:xfrm>
            <a:off x="7040880" y="26517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✦ 3 Ecos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39712" y="31089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</a:rPr>
              <a:t>El agua frena el movimiento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005072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000000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8" name="Shape 36"/>
          <p:cNvSpPr/>
          <p:nvPr/>
        </p:nvSpPr>
        <p:spPr>
          <a:xfrm>
            <a:off x="320040" y="4005072"/>
            <a:ext cx="82296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9" name="Text 37"/>
          <p:cNvSpPr/>
          <p:nvPr/>
        </p:nvSpPr>
        <p:spPr>
          <a:xfrm>
            <a:off x="320040" y="400507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→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261872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5C00"/>
                </a:solidFill>
              </a:rPr>
              <a:t>CLARO — Encuentro Final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61872" y="440740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</a:rPr>
              <a:t>Luz cálida · Habla con Mateo [E] · Final narrativo. El perdón no es automático.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182880"/>
            <a:ext cx="347472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834640" y="182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MECÁNICAS DEL JUEGO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PULSO DE LUZ [J]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Gasta 1 carga (máx. 3 por zona)
• Expande el halo de luz del personaje
• Destruye Sombras cercanas
• Restaura el radio original al terminar
</a:t>
            </a:r>
            <a:r>
              <a:rPr lang="en-US" sz="1100" i="1" dirty="0">
                <a:solidFill>
                  <a:srgbClr val="1A1A2E"/>
                </a:solidFill>
              </a:rPr>
              <a:t>Metáfora: la esperanza frente al acoso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✦ ECOS DE LUZ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Cuadrados luminosos dispersos por el nivel.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Activan una reflexión narrativa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Suman puntos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Recargan el Pulso de Luz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La salida se desbloquea al recoger todos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4754880" y="777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👁 SOMBRAS DEL ACOSO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2344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Proyectiles que persiguen a Alex con frases como: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«No vales nada» · «Nadie te quiere» · «Eres un fracaso»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Contacto = pierde 1 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Generadas proceduralmente (dificultad creciente)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El Pulso de Luz las destruye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♥ VIDA Y REGLAS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Alex tiene 3 corazones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Al perder todos, la zona se reinicia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Empatía: aumenta al completar zonas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Alex se ve visualmente más cálido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Puntuación sube con ecos y zonas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553712"/>
            <a:ext cx="8503920" cy="41148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25400">
            <a:solidFill>
              <a:srgbClr val="E945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2" name="Text 20"/>
          <p:cNvSpPr/>
          <p:nvPr/>
        </p:nvSpPr>
        <p:spPr>
          <a:xfrm>
            <a:off x="502920" y="4553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⚠  ZONA 3 — Regla especial: El jefe NO se derrota atacando. Suelta el arma [Q] y presiona [E] para sanarlo.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34640" y="182880"/>
            <a:ext cx="3474720" cy="411480"/>
          </a:xfrm>
          <a:prstGeom prst="roundRect">
            <a:avLst>
              <a:gd name="adj" fmla="val 4888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834640" y="182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PERSONAJES E ÍTEMS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58952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320040" y="758952"/>
            <a:ext cx="411480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11480" y="758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ALEX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8229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3108960" y="822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Protagonista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El jugador. Adolescente que acosó a Mateo y busca redención atravesando un mundo interior oscuro.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58952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2" name="Shape 10"/>
          <p:cNvSpPr/>
          <p:nvPr/>
        </p:nvSpPr>
        <p:spPr>
          <a:xfrm>
            <a:off x="4754880" y="758952"/>
            <a:ext cx="41148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4846320" y="758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8229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7543800" y="8229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NPC Final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Compañero acosado. Aparece en el Claro para el diálogo de cierre. Su perdón no es automático.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87752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8" name="Shape 16"/>
          <p:cNvSpPr/>
          <p:nvPr/>
        </p:nvSpPr>
        <p:spPr>
          <a:xfrm>
            <a:off x="320040" y="2587752"/>
            <a:ext cx="4114800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411480" y="2587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SOMBRAS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26517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1" name="Text 19"/>
          <p:cNvSpPr/>
          <p:nvPr/>
        </p:nvSpPr>
        <p:spPr>
          <a:xfrm>
            <a:off x="3108960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Enemigos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0906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Representan palabras dañinas. Persiguen a Alex con frases hirientes. Se destruyen con el Pulso de Luz.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87752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4" name="Shape 22"/>
          <p:cNvSpPr/>
          <p:nvPr/>
        </p:nvSpPr>
        <p:spPr>
          <a:xfrm>
            <a:off x="4754880" y="2587752"/>
            <a:ext cx="4114800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5" name="Text 23"/>
          <p:cNvSpPr/>
          <p:nvPr/>
        </p:nvSpPr>
        <p:spPr>
          <a:xfrm>
            <a:off x="4846320" y="25877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JEFE DEL ESPEJO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265176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Text 25"/>
          <p:cNvSpPr/>
          <p:nvPr/>
        </p:nvSpPr>
        <p:spPr>
          <a:xfrm>
            <a:off x="7543800" y="2651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Jefe — Zona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0906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</a:rPr>
              <a:t>Reflejo del miedo de Alex. No se derrota atacando. Se «sana» con empatía: [Q] + [E].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52628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0" name="Text 28"/>
          <p:cNvSpPr/>
          <p:nvPr/>
        </p:nvSpPr>
        <p:spPr>
          <a:xfrm>
            <a:off x="502920" y="4544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✦ Eco de Luz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7731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Activa reflexión + puntos + carga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51760" y="4544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⚡ Pulso [J]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47731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Repele sombras (máx. 3 cargas)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4544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✕ Salida (X)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7731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Bloqueada hasta recoger todos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49440" y="45445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🗺 Minimapa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47731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Posición · Ecos · Enemigos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82880"/>
            <a:ext cx="4023360" cy="411480"/>
          </a:xfrm>
          <a:prstGeom prst="roundRect">
            <a:avLst>
              <a:gd name="adj" fmla="val 4888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560320" y="182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INTERFAZ EN PANTALLA (HUD)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5029200" cy="3383280"/>
          </a:xfrm>
          <a:prstGeom prst="roundRect">
            <a:avLst>
              <a:gd name="adj" fmla="val 3243"/>
            </a:avLst>
          </a:prstGeom>
          <a:solidFill>
            <a:srgbClr val="1A1A2E"/>
          </a:solidFill>
          <a:ln w="25400">
            <a:solidFill>
              <a:srgbClr val="33335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4846320" cy="502920"/>
          </a:xfrm>
          <a:prstGeom prst="rect">
            <a:avLst/>
          </a:prstGeom>
          <a:solidFill>
            <a:srgbClr val="111122"/>
          </a:solidFill>
          <a:ln w="12700">
            <a:solidFill>
              <a:srgbClr val="111122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57200" y="886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PTS: 1,240   ♥♥♥   ECOS: 2/4   ⚡⚡◯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1 — LABERINTO DE PALABRAS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7373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111133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Text 8"/>
          <p:cNvSpPr/>
          <p:nvPr/>
        </p:nvSpPr>
        <p:spPr>
          <a:xfrm>
            <a:off x="4251960" y="1755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MAPA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182880" cy="182880"/>
          </a:xfrm>
          <a:prstGeom prst="ellipse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«No vales nada»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«Nadie te quiere»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0" y="3474720"/>
            <a:ext cx="16459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2103120" y="37673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C3F7"/>
                </a:solidFill>
              </a:rPr>
              <a:t>▲ Alex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532120" y="777240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7" name="Shape 15"/>
          <p:cNvSpPr/>
          <p:nvPr/>
        </p:nvSpPr>
        <p:spPr>
          <a:xfrm>
            <a:off x="5532120" y="777240"/>
            <a:ext cx="73152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5650992" y="813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50992" y="10515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Puntuación acumulada en la sesión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1444752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1" name="Shape 19"/>
          <p:cNvSpPr/>
          <p:nvPr/>
        </p:nvSpPr>
        <p:spPr>
          <a:xfrm>
            <a:off x="5532120" y="1444752"/>
            <a:ext cx="73152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2" name="Text 20"/>
          <p:cNvSpPr/>
          <p:nvPr/>
        </p:nvSpPr>
        <p:spPr>
          <a:xfrm>
            <a:off x="5650992" y="14813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VIDA ♥♥♥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50992" y="1719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Corazones restantes (máx. 3)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2112264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5" name="Shape 23"/>
          <p:cNvSpPr/>
          <p:nvPr/>
        </p:nvSpPr>
        <p:spPr>
          <a:xfrm>
            <a:off x="5532120" y="2112264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6" name="Text 24"/>
          <p:cNvSpPr/>
          <p:nvPr/>
        </p:nvSpPr>
        <p:spPr>
          <a:xfrm>
            <a:off x="5650992" y="2148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ECOS n/N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50992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Ecos recogidos vs. total de la zona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2779776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9" name="Shape 27"/>
          <p:cNvSpPr/>
          <p:nvPr/>
        </p:nvSpPr>
        <p:spPr>
          <a:xfrm>
            <a:off x="5532120" y="2779776"/>
            <a:ext cx="73152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0" name="Text 28"/>
          <p:cNvSpPr/>
          <p:nvPr/>
        </p:nvSpPr>
        <p:spPr>
          <a:xfrm>
            <a:off x="5650992" y="28163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LUZ ⚡⚡◯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50992" y="305409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Cargas del Pulso (⚡ = disponible)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3447288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3" name="Shape 31"/>
          <p:cNvSpPr/>
          <p:nvPr/>
        </p:nvSpPr>
        <p:spPr>
          <a:xfrm>
            <a:off x="5532120" y="3447288"/>
            <a:ext cx="73152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4" name="Text 32"/>
          <p:cNvSpPr/>
          <p:nvPr/>
        </p:nvSpPr>
        <p:spPr>
          <a:xfrm>
            <a:off x="5650992" y="34838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NOMBRE ZONA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50992" y="37216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Zona actual del recorrido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4114800"/>
            <a:ext cx="324612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7" name="Shape 35"/>
          <p:cNvSpPr/>
          <p:nvPr/>
        </p:nvSpPr>
        <p:spPr>
          <a:xfrm>
            <a:off x="5532120" y="4114800"/>
            <a:ext cx="73152" cy="548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8" name="Text 36"/>
          <p:cNvSpPr/>
          <p:nvPr/>
        </p:nvSpPr>
        <p:spPr>
          <a:xfrm>
            <a:off x="5650992" y="41513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MINIMAPA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43891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Posición · Ecos · Enemigos · Salida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6360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</a:rPr>
              <a:t>Todos los indicadores se actualizan en tiempo real y están en español.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82880"/>
            <a:ext cx="4023360" cy="411480"/>
          </a:xfrm>
          <a:prstGeom prst="roundRect">
            <a:avLst>
              <a:gd name="adj" fmla="val 4888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560320" y="182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OPCIONES Y ACCESIBILIDAD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</a:rPr>
              <a:t>¡Todos deberían poder disfrutar del juego!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🔊 CONFIGURACIÓN DE AUDIO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Volumen general — deslizante 0–100 %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Volumen música — deslizante 0–100 %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Volumen efectos — deslizante 0–100 %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Todos los ajustes persisten entre sesiones.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03580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1" name="Shape 9"/>
          <p:cNvSpPr/>
          <p:nvPr/>
        </p:nvSpPr>
        <p:spPr>
          <a:xfrm>
            <a:off x="320040" y="3035808"/>
            <a:ext cx="41148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PANTALLA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Pantalla completa — Activar / Desactivar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Resolución: 640×360 · 960×540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   1280×720 · 1920×1080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Resolución interna del juego: 320×180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4663440" y="1078992"/>
            <a:ext cx="41148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475488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👁  MODO DALTONISMO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536192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Activa un shader de paleta completa que simula deficiencias de visión de colores: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Normal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Protanopia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Deuteranopia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Tritanopia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35808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9" name="Shape 17"/>
          <p:cNvSpPr/>
          <p:nvPr/>
        </p:nvSpPr>
        <p:spPr>
          <a:xfrm>
            <a:off x="4663440" y="3035808"/>
            <a:ext cx="41148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0" name="Text 18"/>
          <p:cNvSpPr/>
          <p:nvPr/>
        </p:nvSpPr>
        <p:spPr>
          <a:xfrm>
            <a:off x="4754880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◑  CONTRASTE VISUAL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493008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Ajusta la matriz de contraste para mejorar legibilidad. Adapta la experiencia visual a tus necesidades.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Bajo · Normal · Alto · Máximo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</a:rPr>
              <a:t>Todas las opciones están disponibles desde el menú de Opciones en la pantalla del menú principal.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82880"/>
            <a:ext cx="4023360" cy="411480"/>
          </a:xfrm>
          <a:prstGeom prst="roundRect">
            <a:avLst>
              <a:gd name="adj" fmla="val 48889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2560320" y="182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PREGUNTAS FRECUENTES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¿Cómo se guarda mi progreso?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527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Al regresar al menú principal. Si cierras el juego sin volver al menú, pierdes el progreso de esa sesión.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No puedo pasar la Cueva del Espejo, ¿qué hago?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Recoge los 3 ecos, acércate al jefe, pulsa [Q] para soltar el arma y luego [E]. ¡No lo ataques!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6118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La salida está bloqueada. ¿Por qué?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873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Debes recoger TODOS los ecos de la zona actual. Revisa el minimapa para ver cuántos faltan.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4800600" y="868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El juego va lento en mi PC.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2527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Reduce la resolución en Opciones o cierra otras aplicaciones. El preset Mínimo garantiza 60 FPS en hardware de gama baja.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¿Puedo cambiar los controles?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6700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Por ahora no. Los controles son fijos: WASD / Flechas para mover, E, J, Q y ESC.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41148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1" name="Text 19"/>
          <p:cNvSpPr/>
          <p:nvPr/>
        </p:nvSpPr>
        <p:spPr>
          <a:xfrm>
            <a:off x="48006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P: ¿Qué pasa si pierdo toda la vida?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0873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R: La zona actual se reinicia automáticamente. Los ecos debes recogerlos de nuevo desde cero.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681728"/>
            <a:ext cx="8503920" cy="365760"/>
          </a:xfrm>
          <a:prstGeom prst="roundRect">
            <a:avLst>
              <a:gd name="adj" fmla="val 30000"/>
            </a:avLst>
          </a:prstGeom>
          <a:solidFill>
            <a:srgbClr val="1A1A2E"/>
          </a:solidFill>
          <a:ln w="25400">
            <a:solidFill>
              <a:srgbClr val="1A1A2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4" name="Text 22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</a:rPr>
              <a:t>¡Gracias por jugar Lost Eco!   ★   Escuchar también es actuar.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1188</Words>
  <Application>Microsoft Office PowerPoint</Application>
  <PresentationFormat>Presentación en pantalla 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Eco — Manual de Usuario</dc:title>
  <dc:subject>PptxGenJS Presentation</dc:subject>
  <dc:creator>PptxGenJS</dc:creator>
  <cp:lastModifiedBy>Panzer T</cp:lastModifiedBy>
  <cp:revision>2</cp:revision>
  <dcterms:created xsi:type="dcterms:W3CDTF">2026-05-27T05:51:17Z</dcterms:created>
  <dcterms:modified xsi:type="dcterms:W3CDTF">2026-05-27T06:17:28Z</dcterms:modified>
</cp:coreProperties>
</file>